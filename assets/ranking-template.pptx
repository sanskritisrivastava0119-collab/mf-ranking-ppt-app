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</p:sldMasterIdLst>
  <p:sldIdLst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2794523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513618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7210" y="334376"/>
            <a:ext cx="2036493" cy="54568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333374"/>
            <a:ext cx="9371330" cy="548005"/>
          </a:xfrm>
          <a:custGeom>
            <a:avLst/>
            <a:gdLst/>
            <a:ahLst/>
            <a:cxnLst/>
            <a:rect l="l" t="t" r="r" b="b"/>
            <a:pathLst>
              <a:path w="9371330" h="548005">
                <a:moveTo>
                  <a:pt x="9371076" y="273812"/>
                </a:moveTo>
                <a:lnTo>
                  <a:pt x="9366593" y="224586"/>
                </a:lnTo>
                <a:lnTo>
                  <a:pt x="9353677" y="178257"/>
                </a:lnTo>
                <a:lnTo>
                  <a:pt x="9333116" y="135610"/>
                </a:lnTo>
                <a:lnTo>
                  <a:pt x="9305696" y="97396"/>
                </a:lnTo>
                <a:lnTo>
                  <a:pt x="9272206" y="64389"/>
                </a:lnTo>
                <a:lnTo>
                  <a:pt x="9233421" y="37376"/>
                </a:lnTo>
                <a:lnTo>
                  <a:pt x="9190139" y="17132"/>
                </a:lnTo>
                <a:lnTo>
                  <a:pt x="9143124" y="4419"/>
                </a:lnTo>
                <a:lnTo>
                  <a:pt x="9093200" y="0"/>
                </a:lnTo>
                <a:lnTo>
                  <a:pt x="8815451" y="0"/>
                </a:lnTo>
                <a:lnTo>
                  <a:pt x="0" y="63"/>
                </a:lnTo>
                <a:lnTo>
                  <a:pt x="0" y="547751"/>
                </a:lnTo>
                <a:lnTo>
                  <a:pt x="8815451" y="547751"/>
                </a:lnTo>
                <a:lnTo>
                  <a:pt x="8913876" y="547751"/>
                </a:lnTo>
                <a:lnTo>
                  <a:pt x="9093200" y="547751"/>
                </a:lnTo>
                <a:lnTo>
                  <a:pt x="9143124" y="543344"/>
                </a:lnTo>
                <a:lnTo>
                  <a:pt x="9190139" y="530618"/>
                </a:lnTo>
                <a:lnTo>
                  <a:pt x="9233421" y="510349"/>
                </a:lnTo>
                <a:lnTo>
                  <a:pt x="9272206" y="483323"/>
                </a:lnTo>
                <a:lnTo>
                  <a:pt x="9305696" y="450303"/>
                </a:lnTo>
                <a:lnTo>
                  <a:pt x="9333116" y="412064"/>
                </a:lnTo>
                <a:lnTo>
                  <a:pt x="9353677" y="369392"/>
                </a:lnTo>
                <a:lnTo>
                  <a:pt x="9366593" y="323049"/>
                </a:lnTo>
                <a:lnTo>
                  <a:pt x="9371076" y="273812"/>
                </a:lnTo>
                <a:close/>
              </a:path>
            </a:pathLst>
          </a:custGeom>
          <a:solidFill>
            <a:srgbClr val="D2AB67"/>
          </a:solidFill>
        </p:spPr>
        <p:txBody>
          <a:bodyPr wrap="square" lIns="0" tIns="0" rIns="0" bIns="0" rtlCol="0"/>
          <a:lstStyle/>
          <a:p>
            <a:endParaRPr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2637747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051351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3972051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191000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223250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7210" y="334376"/>
            <a:ext cx="2036493" cy="54568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333374"/>
            <a:ext cx="9371330" cy="548005"/>
          </a:xfrm>
          <a:custGeom>
            <a:avLst/>
            <a:gdLst/>
            <a:ahLst/>
            <a:cxnLst/>
            <a:rect l="l" t="t" r="r" b="b"/>
            <a:pathLst>
              <a:path w="9371330" h="548005">
                <a:moveTo>
                  <a:pt x="9371076" y="273812"/>
                </a:moveTo>
                <a:lnTo>
                  <a:pt x="9366593" y="224586"/>
                </a:lnTo>
                <a:lnTo>
                  <a:pt x="9353677" y="178257"/>
                </a:lnTo>
                <a:lnTo>
                  <a:pt x="9333116" y="135610"/>
                </a:lnTo>
                <a:lnTo>
                  <a:pt x="9305696" y="97396"/>
                </a:lnTo>
                <a:lnTo>
                  <a:pt x="9272206" y="64389"/>
                </a:lnTo>
                <a:lnTo>
                  <a:pt x="9233421" y="37376"/>
                </a:lnTo>
                <a:lnTo>
                  <a:pt x="9190139" y="17132"/>
                </a:lnTo>
                <a:lnTo>
                  <a:pt x="9143124" y="4419"/>
                </a:lnTo>
                <a:lnTo>
                  <a:pt x="9093200" y="0"/>
                </a:lnTo>
                <a:lnTo>
                  <a:pt x="8815451" y="0"/>
                </a:lnTo>
                <a:lnTo>
                  <a:pt x="0" y="63"/>
                </a:lnTo>
                <a:lnTo>
                  <a:pt x="0" y="547751"/>
                </a:lnTo>
                <a:lnTo>
                  <a:pt x="8815451" y="547751"/>
                </a:lnTo>
                <a:lnTo>
                  <a:pt x="8913876" y="547751"/>
                </a:lnTo>
                <a:lnTo>
                  <a:pt x="9093200" y="547751"/>
                </a:lnTo>
                <a:lnTo>
                  <a:pt x="9143124" y="543344"/>
                </a:lnTo>
                <a:lnTo>
                  <a:pt x="9190139" y="530618"/>
                </a:lnTo>
                <a:lnTo>
                  <a:pt x="9233421" y="510349"/>
                </a:lnTo>
                <a:lnTo>
                  <a:pt x="9272206" y="483323"/>
                </a:lnTo>
                <a:lnTo>
                  <a:pt x="9305696" y="450303"/>
                </a:lnTo>
                <a:lnTo>
                  <a:pt x="9333116" y="412064"/>
                </a:lnTo>
                <a:lnTo>
                  <a:pt x="9353677" y="369392"/>
                </a:lnTo>
                <a:lnTo>
                  <a:pt x="9366593" y="323049"/>
                </a:lnTo>
                <a:lnTo>
                  <a:pt x="9371076" y="273812"/>
                </a:lnTo>
                <a:close/>
              </a:path>
            </a:pathLst>
          </a:custGeom>
          <a:solidFill>
            <a:srgbClr val="D2AB67"/>
          </a:solidFill>
        </p:spPr>
        <p:txBody>
          <a:bodyPr wrap="square" lIns="0" tIns="0" rIns="0" bIns="0" rtlCol="0"/>
          <a:lstStyle/>
          <a:p>
            <a:endParaRPr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267038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3523890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spc="-50" dirty="0"/>
              <a:pPr marL="127635">
                <a:lnSpc>
                  <a:spcPts val="1435"/>
                </a:lnSpc>
              </a:pPr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338413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77209" y="334376"/>
            <a:ext cx="2036493" cy="54568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139" y="402081"/>
            <a:ext cx="11437721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1010" y="1104900"/>
            <a:ext cx="5448300" cy="3369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ern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kern="0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kern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76253" y="6584162"/>
            <a:ext cx="269620" cy="203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kern="0" spc="-50" dirty="0"/>
              <a:pPr marL="127635">
                <a:lnSpc>
                  <a:spcPts val="1435"/>
                </a:lnSpc>
              </a:pPr>
              <a:t>‹#›</a:t>
            </a:fld>
            <a:endParaRPr kern="0" spc="-50" dirty="0"/>
          </a:p>
        </p:txBody>
      </p:sp>
    </p:spTree>
    <p:extLst>
      <p:ext uri="{BB962C8B-B14F-4D97-AF65-F5344CB8AC3E}">
        <p14:creationId xmlns:p14="http://schemas.microsoft.com/office/powerpoint/2010/main" val="604162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77209" y="334376"/>
            <a:ext cx="2036493" cy="54568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139" y="402081"/>
            <a:ext cx="11437721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6C183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1010" y="1104900"/>
            <a:ext cx="5448300" cy="3369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ern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kern="0">
                <a:solidFill>
                  <a:prstClr val="black">
                    <a:tint val="75000"/>
                  </a:prstClr>
                </a:solidFill>
              </a:rPr>
              <a:pPr/>
              <a:t>6/15/2026</a:t>
            </a:fld>
            <a:endParaRPr lang="en-US" kern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76253" y="6584162"/>
            <a:ext cx="269620" cy="203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635">
              <a:lnSpc>
                <a:spcPts val="1435"/>
              </a:lnSpc>
            </a:pPr>
            <a:fld id="{81D60167-4931-47E6-BA6A-407CBD079E47}" type="slidenum">
              <a:rPr kern="0" spc="-50" dirty="0"/>
              <a:pPr marL="127635">
                <a:lnSpc>
                  <a:spcPts val="1435"/>
                </a:lnSpc>
              </a:pPr>
              <a:t>‹#›</a:t>
            </a:fld>
            <a:endParaRPr kern="0" spc="-50" dirty="0"/>
          </a:p>
        </p:txBody>
      </p:sp>
    </p:spTree>
    <p:extLst>
      <p:ext uri="{BB962C8B-B14F-4D97-AF65-F5344CB8AC3E}">
        <p14:creationId xmlns:p14="http://schemas.microsoft.com/office/powerpoint/2010/main" val="202546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3B0E6-80FA-F2A4-F5BE-F32F07317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777DD-395D-0C9C-0D09-E1079E388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04" y="838200"/>
            <a:ext cx="11029616" cy="605307"/>
          </a:xfrm>
        </p:spPr>
        <p:txBody>
          <a:bodyPr>
            <a:noAutofit/>
          </a:bodyPr>
          <a:lstStyle/>
          <a:p>
            <a:r>
              <a:rPr lang="en-IN" b="1" dirty="0">
                <a:solidFill>
                  <a:srgbClr val="FFFE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portfolio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3441DAE5-B855-AF4A-0216-5CE0A85628DC}"/>
              </a:ext>
            </a:extLst>
          </p:cNvPr>
          <p:cNvSpPr/>
          <p:nvPr/>
        </p:nvSpPr>
        <p:spPr>
          <a:xfrm>
            <a:off x="191134" y="333132"/>
            <a:ext cx="9371330" cy="548005"/>
          </a:xfrm>
          <a:custGeom>
            <a:avLst/>
            <a:gdLst/>
            <a:ahLst/>
            <a:cxnLst/>
            <a:rect l="l" t="t" r="r" b="b"/>
            <a:pathLst>
              <a:path w="9371330" h="548005">
                <a:moveTo>
                  <a:pt x="9371076" y="273812"/>
                </a:moveTo>
                <a:lnTo>
                  <a:pt x="9366593" y="224586"/>
                </a:lnTo>
                <a:lnTo>
                  <a:pt x="9353677" y="178257"/>
                </a:lnTo>
                <a:lnTo>
                  <a:pt x="9333116" y="135610"/>
                </a:lnTo>
                <a:lnTo>
                  <a:pt x="9305696" y="97396"/>
                </a:lnTo>
                <a:lnTo>
                  <a:pt x="9272206" y="64389"/>
                </a:lnTo>
                <a:lnTo>
                  <a:pt x="9233421" y="37376"/>
                </a:lnTo>
                <a:lnTo>
                  <a:pt x="9190139" y="17132"/>
                </a:lnTo>
                <a:lnTo>
                  <a:pt x="9143124" y="4419"/>
                </a:lnTo>
                <a:lnTo>
                  <a:pt x="9093200" y="0"/>
                </a:lnTo>
                <a:lnTo>
                  <a:pt x="8815451" y="0"/>
                </a:lnTo>
                <a:lnTo>
                  <a:pt x="0" y="63"/>
                </a:lnTo>
                <a:lnTo>
                  <a:pt x="0" y="547751"/>
                </a:lnTo>
                <a:lnTo>
                  <a:pt x="8815451" y="547751"/>
                </a:lnTo>
                <a:lnTo>
                  <a:pt x="8913876" y="547751"/>
                </a:lnTo>
                <a:lnTo>
                  <a:pt x="9093200" y="547751"/>
                </a:lnTo>
                <a:lnTo>
                  <a:pt x="9143124" y="543344"/>
                </a:lnTo>
                <a:lnTo>
                  <a:pt x="9190139" y="530618"/>
                </a:lnTo>
                <a:lnTo>
                  <a:pt x="9233421" y="510349"/>
                </a:lnTo>
                <a:lnTo>
                  <a:pt x="9272206" y="483323"/>
                </a:lnTo>
                <a:lnTo>
                  <a:pt x="9305696" y="450303"/>
                </a:lnTo>
                <a:lnTo>
                  <a:pt x="9333116" y="412064"/>
                </a:lnTo>
                <a:lnTo>
                  <a:pt x="9353677" y="369392"/>
                </a:lnTo>
                <a:lnTo>
                  <a:pt x="9366593" y="323049"/>
                </a:lnTo>
                <a:lnTo>
                  <a:pt x="9371076" y="273812"/>
                </a:lnTo>
                <a:close/>
              </a:path>
            </a:pathLst>
          </a:custGeom>
          <a:solidFill>
            <a:srgbClr val="42102C"/>
          </a:soli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/>
          <a:lstStyle/>
          <a:p>
            <a:endParaRPr kern="0" dirty="0">
              <a:solidFill>
                <a:sysClr val="windowText" lastClr="00000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EB256EF-B841-73A9-5F42-4F590D493514}"/>
              </a:ext>
            </a:extLst>
          </p:cNvPr>
          <p:cNvSpPr txBox="1">
            <a:spLocks/>
          </p:cNvSpPr>
          <p:nvPr/>
        </p:nvSpPr>
        <p:spPr>
          <a:xfrm>
            <a:off x="427947" y="414572"/>
            <a:ext cx="11029616" cy="60530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sz="2200" b="1" i="0">
                <a:solidFill>
                  <a:srgbClr val="6C1830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sz="2800" kern="0" dirty="0">
                <a:solidFill>
                  <a:srgbClr val="FFFE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RANKING</a:t>
            </a:r>
            <a:endParaRPr lang="en-IN" sz="2800" kern="0" dirty="0">
              <a:solidFill>
                <a:srgbClr val="FFFE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5B087DD-B6C9-EE5B-AE8A-4C2680EAA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733942"/>
              </p:ext>
            </p:extLst>
          </p:nvPr>
        </p:nvGraphicFramePr>
        <p:xfrm>
          <a:off x="191134" y="1450435"/>
          <a:ext cx="11543665" cy="47776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17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7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94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94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94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811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Scheme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Category</a:t>
                      </a:r>
                      <a:endParaRPr lang="en-IN" sz="2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Ranking</a:t>
                      </a:r>
                      <a:endParaRPr lang="en-IN" sz="2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7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1Y</a:t>
                      </a:r>
                      <a:endParaRPr lang="en-IN" sz="2200" dirty="0"/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3Y</a:t>
                      </a:r>
                      <a:endParaRPr lang="en-IN" sz="2200" dirty="0"/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5Y</a:t>
                      </a:r>
                      <a:endParaRPr lang="en-IN" sz="2200" dirty="0"/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501836"/>
                  </a:ext>
                </a:extLst>
              </a:tr>
              <a:tr h="5687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Nippon India ELSS Tax Saver Fund - (G)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ELSS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9/38</a:t>
                      </a:r>
                      <a:endParaRPr lang="en-IN" sz="18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10/36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6/34</a:t>
                      </a:r>
                      <a:endParaRPr lang="en-IN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40701433"/>
                  </a:ext>
                </a:extLst>
              </a:tr>
              <a:tr h="5687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Aditya Birla SL Flexi Cap Fund (G)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Flexi Cap Fund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7/39</a:t>
                      </a:r>
                      <a:endParaRPr lang="en-IN" sz="18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9/34</a:t>
                      </a:r>
                      <a:endParaRPr lang="en-IN" sz="18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9/24</a:t>
                      </a:r>
                      <a:endParaRPr lang="en-IN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18729907"/>
                  </a:ext>
                </a:extLst>
              </a:tr>
              <a:tr h="5687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AXIS Flexi Cap Fund - Direct (G)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Flexi Cap Fund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18/39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20/34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20/24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7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UTI-Flexi Cap Fund (G)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Flexi Cap Fund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38/39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33/34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24/24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813011360"/>
                  </a:ext>
                </a:extLst>
              </a:tr>
              <a:tr h="5687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ICICI Pru Focused Equity Fund (G)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Focused Fund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13/28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2/26</a:t>
                      </a:r>
                      <a:endParaRPr lang="en-IN" sz="18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2/23</a:t>
                      </a:r>
                      <a:endParaRPr lang="en-IN" sz="18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467189967"/>
                  </a:ext>
                </a:extLst>
              </a:tr>
              <a:tr h="5789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LIC MF Focused Fund - Regular (G)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Focused Fund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23/28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24/26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875" marR="142875" marT="142875" marB="142875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20/23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875" marR="142875" marT="142875" marB="142875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844003310"/>
                  </a:ext>
                </a:extLst>
              </a:tr>
              <a:tr h="5789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Nippon India Large Cap Fund (G)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Large Cap Fund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14/35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4/32</a:t>
                      </a:r>
                      <a:endParaRPr lang="en-IN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875" marR="142875" marT="142875" marB="142875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1/29</a:t>
                      </a:r>
                      <a:endParaRPr lang="en-IN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875" marR="142875" marT="142875" marB="142875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73610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36819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3B0E6-80FA-F2A4-F5BE-F32F07317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777DD-395D-0C9C-0D09-E1079E388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04" y="838200"/>
            <a:ext cx="11029616" cy="605307"/>
          </a:xfrm>
        </p:spPr>
        <p:txBody>
          <a:bodyPr>
            <a:noAutofit/>
          </a:bodyPr>
          <a:lstStyle/>
          <a:p>
            <a:r>
              <a:rPr lang="en-IN" b="1" dirty="0">
                <a:solidFill>
                  <a:srgbClr val="FFFE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portfolio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3441DAE5-B855-AF4A-0216-5CE0A85628DC}"/>
              </a:ext>
            </a:extLst>
          </p:cNvPr>
          <p:cNvSpPr/>
          <p:nvPr/>
        </p:nvSpPr>
        <p:spPr>
          <a:xfrm>
            <a:off x="191134" y="333132"/>
            <a:ext cx="9371330" cy="548005"/>
          </a:xfrm>
          <a:custGeom>
            <a:avLst/>
            <a:gdLst/>
            <a:ahLst/>
            <a:cxnLst/>
            <a:rect l="l" t="t" r="r" b="b"/>
            <a:pathLst>
              <a:path w="9371330" h="548005">
                <a:moveTo>
                  <a:pt x="9371076" y="273812"/>
                </a:moveTo>
                <a:lnTo>
                  <a:pt x="9366593" y="224586"/>
                </a:lnTo>
                <a:lnTo>
                  <a:pt x="9353677" y="178257"/>
                </a:lnTo>
                <a:lnTo>
                  <a:pt x="9333116" y="135610"/>
                </a:lnTo>
                <a:lnTo>
                  <a:pt x="9305696" y="97396"/>
                </a:lnTo>
                <a:lnTo>
                  <a:pt x="9272206" y="64389"/>
                </a:lnTo>
                <a:lnTo>
                  <a:pt x="9233421" y="37376"/>
                </a:lnTo>
                <a:lnTo>
                  <a:pt x="9190139" y="17132"/>
                </a:lnTo>
                <a:lnTo>
                  <a:pt x="9143124" y="4419"/>
                </a:lnTo>
                <a:lnTo>
                  <a:pt x="9093200" y="0"/>
                </a:lnTo>
                <a:lnTo>
                  <a:pt x="8815451" y="0"/>
                </a:lnTo>
                <a:lnTo>
                  <a:pt x="0" y="63"/>
                </a:lnTo>
                <a:lnTo>
                  <a:pt x="0" y="547751"/>
                </a:lnTo>
                <a:lnTo>
                  <a:pt x="8815451" y="547751"/>
                </a:lnTo>
                <a:lnTo>
                  <a:pt x="8913876" y="547751"/>
                </a:lnTo>
                <a:lnTo>
                  <a:pt x="9093200" y="547751"/>
                </a:lnTo>
                <a:lnTo>
                  <a:pt x="9143124" y="543344"/>
                </a:lnTo>
                <a:lnTo>
                  <a:pt x="9190139" y="530618"/>
                </a:lnTo>
                <a:lnTo>
                  <a:pt x="9233421" y="510349"/>
                </a:lnTo>
                <a:lnTo>
                  <a:pt x="9272206" y="483323"/>
                </a:lnTo>
                <a:lnTo>
                  <a:pt x="9305696" y="450303"/>
                </a:lnTo>
                <a:lnTo>
                  <a:pt x="9333116" y="412064"/>
                </a:lnTo>
                <a:lnTo>
                  <a:pt x="9353677" y="369392"/>
                </a:lnTo>
                <a:lnTo>
                  <a:pt x="9366593" y="323049"/>
                </a:lnTo>
                <a:lnTo>
                  <a:pt x="9371076" y="273812"/>
                </a:lnTo>
                <a:close/>
              </a:path>
            </a:pathLst>
          </a:custGeom>
          <a:solidFill>
            <a:srgbClr val="42102C"/>
          </a:soli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/>
          <a:lstStyle/>
          <a:p>
            <a:endParaRPr kern="0" dirty="0">
              <a:solidFill>
                <a:sysClr val="windowText" lastClr="00000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EB256EF-B841-73A9-5F42-4F590D493514}"/>
              </a:ext>
            </a:extLst>
          </p:cNvPr>
          <p:cNvSpPr txBox="1">
            <a:spLocks/>
          </p:cNvSpPr>
          <p:nvPr/>
        </p:nvSpPr>
        <p:spPr>
          <a:xfrm>
            <a:off x="427947" y="414572"/>
            <a:ext cx="11029616" cy="60530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sz="2200" b="1" i="0">
                <a:solidFill>
                  <a:srgbClr val="6C1830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sz="2800" kern="0" dirty="0">
                <a:solidFill>
                  <a:srgbClr val="FFFE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RANKING</a:t>
            </a:r>
            <a:endParaRPr lang="en-IN" sz="2800" kern="0" dirty="0">
              <a:solidFill>
                <a:srgbClr val="FFFEF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5B087DD-B6C9-EE5B-AE8A-4C2680EAA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984437"/>
              </p:ext>
            </p:extLst>
          </p:nvPr>
        </p:nvGraphicFramePr>
        <p:xfrm>
          <a:off x="191134" y="1450435"/>
          <a:ext cx="11543662" cy="49929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17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7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9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94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94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784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Scheme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Category</a:t>
                      </a:r>
                      <a:endParaRPr lang="en-IN" sz="2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Ranking</a:t>
                      </a:r>
                      <a:endParaRPr lang="en-IN" sz="2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60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1Y</a:t>
                      </a:r>
                      <a:endParaRPr lang="en-IN" sz="2200" dirty="0"/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3Y</a:t>
                      </a:r>
                      <a:endParaRPr lang="en-IN" sz="2200" dirty="0"/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5Y</a:t>
                      </a:r>
                      <a:endParaRPr lang="en-IN" sz="2200" dirty="0"/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501836"/>
                  </a:ext>
                </a:extLst>
              </a:tr>
              <a:tr h="5969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Aditya Birla SL Large Cap Fund (G)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Large Cap Fund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25/35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14/32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10/29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532152928"/>
                  </a:ext>
                </a:extLst>
              </a:tr>
              <a:tr h="5969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UTI-Large Cap Fund (G)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Large Cap Fund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32/35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29/32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24/29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9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AXIS Large Cap Fund - Direct (G)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Large Cap Fund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26/35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28/32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29/29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69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SBI Large Cap Fund (G)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Large Cap Fund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4/35</a:t>
                      </a:r>
                      <a:endParaRPr lang="en-IN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18/32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9/29</a:t>
                      </a:r>
                      <a:endParaRPr lang="en-IN" sz="18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813011360"/>
                  </a:ext>
                </a:extLst>
              </a:tr>
              <a:tr h="5969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SBI Midcap Fund (G)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Mid Cap Fund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25/30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27/29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18/25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467189967"/>
                  </a:ext>
                </a:extLst>
              </a:tr>
              <a:tr h="5969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Motilal Oswal Midcap Fund-Dir (G)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Mid Cap Fund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30/30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23/29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875" marR="142875" marT="142875" marB="142875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1/25</a:t>
                      </a:r>
                      <a:endParaRPr lang="en-IN" sz="18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875" marR="142875" marT="142875" marB="142875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042178364"/>
                  </a:ext>
                </a:extLst>
              </a:tr>
              <a:tr h="5969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UTI-Mid Cap Fund (G)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Mid Cap Fund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24/30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26/29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875" marR="142875" marT="142875" marB="142875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22/25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875" marR="142875" marT="142875" marB="142875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73610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23114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F35296B4-D78B-C87F-7A95-136E0547C528}"/>
              </a:ext>
            </a:extLst>
          </p:cNvPr>
          <p:cNvSpPr/>
          <p:nvPr/>
        </p:nvSpPr>
        <p:spPr>
          <a:xfrm>
            <a:off x="218028" y="324167"/>
            <a:ext cx="9371330" cy="548005"/>
          </a:xfrm>
          <a:custGeom>
            <a:avLst/>
            <a:gdLst/>
            <a:ahLst/>
            <a:cxnLst/>
            <a:rect l="l" t="t" r="r" b="b"/>
            <a:pathLst>
              <a:path w="9371330" h="548005">
                <a:moveTo>
                  <a:pt x="9371076" y="273812"/>
                </a:moveTo>
                <a:lnTo>
                  <a:pt x="9366593" y="224586"/>
                </a:lnTo>
                <a:lnTo>
                  <a:pt x="9353677" y="178257"/>
                </a:lnTo>
                <a:lnTo>
                  <a:pt x="9333116" y="135610"/>
                </a:lnTo>
                <a:lnTo>
                  <a:pt x="9305696" y="97396"/>
                </a:lnTo>
                <a:lnTo>
                  <a:pt x="9272206" y="64389"/>
                </a:lnTo>
                <a:lnTo>
                  <a:pt x="9233421" y="37376"/>
                </a:lnTo>
                <a:lnTo>
                  <a:pt x="9190139" y="17132"/>
                </a:lnTo>
                <a:lnTo>
                  <a:pt x="9143124" y="4419"/>
                </a:lnTo>
                <a:lnTo>
                  <a:pt x="9093200" y="0"/>
                </a:lnTo>
                <a:lnTo>
                  <a:pt x="8815451" y="0"/>
                </a:lnTo>
                <a:lnTo>
                  <a:pt x="0" y="63"/>
                </a:lnTo>
                <a:lnTo>
                  <a:pt x="0" y="547751"/>
                </a:lnTo>
                <a:lnTo>
                  <a:pt x="8815451" y="547751"/>
                </a:lnTo>
                <a:lnTo>
                  <a:pt x="8913876" y="547751"/>
                </a:lnTo>
                <a:lnTo>
                  <a:pt x="9093200" y="547751"/>
                </a:lnTo>
                <a:lnTo>
                  <a:pt x="9143124" y="543344"/>
                </a:lnTo>
                <a:lnTo>
                  <a:pt x="9190139" y="530618"/>
                </a:lnTo>
                <a:lnTo>
                  <a:pt x="9233421" y="510349"/>
                </a:lnTo>
                <a:lnTo>
                  <a:pt x="9272206" y="483323"/>
                </a:lnTo>
                <a:lnTo>
                  <a:pt x="9305696" y="450303"/>
                </a:lnTo>
                <a:lnTo>
                  <a:pt x="9333116" y="412064"/>
                </a:lnTo>
                <a:lnTo>
                  <a:pt x="9353677" y="369392"/>
                </a:lnTo>
                <a:lnTo>
                  <a:pt x="9366593" y="323049"/>
                </a:lnTo>
                <a:lnTo>
                  <a:pt x="9371076" y="273812"/>
                </a:lnTo>
                <a:close/>
              </a:path>
            </a:pathLst>
          </a:custGeom>
          <a:solidFill>
            <a:srgbClr val="42102C"/>
          </a:solidFill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/>
          <a:lstStyle/>
          <a:p>
            <a:pPr>
              <a:lnSpc>
                <a:spcPct val="200000"/>
              </a:lnSpc>
            </a:pPr>
            <a:r>
              <a:rPr lang="en-US" b="1" kern="0" dirty="0">
                <a:solidFill>
                  <a:srgbClr val="FFFE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   RANKING</a:t>
            </a:r>
            <a:endParaRPr b="1" kern="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89C5DF-3427-9BE0-73A9-8664C1C45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916620"/>
              </p:ext>
            </p:extLst>
          </p:nvPr>
        </p:nvGraphicFramePr>
        <p:xfrm>
          <a:off x="218028" y="1182646"/>
          <a:ext cx="11543665" cy="53511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17534">
                  <a:extLst>
                    <a:ext uri="{9D8B030D-6E8A-4147-A177-3AD203B41FA5}">
                      <a16:colId xmlns:a16="http://schemas.microsoft.com/office/drawing/2014/main" val="3892416288"/>
                    </a:ext>
                  </a:extLst>
                </a:gridCol>
                <a:gridCol w="2387655">
                  <a:extLst>
                    <a:ext uri="{9D8B030D-6E8A-4147-A177-3AD203B41FA5}">
                      <a16:colId xmlns:a16="http://schemas.microsoft.com/office/drawing/2014/main" val="1993159519"/>
                    </a:ext>
                  </a:extLst>
                </a:gridCol>
                <a:gridCol w="1379492">
                  <a:extLst>
                    <a:ext uri="{9D8B030D-6E8A-4147-A177-3AD203B41FA5}">
                      <a16:colId xmlns:a16="http://schemas.microsoft.com/office/drawing/2014/main" val="1243957356"/>
                    </a:ext>
                  </a:extLst>
                </a:gridCol>
                <a:gridCol w="1379492">
                  <a:extLst>
                    <a:ext uri="{9D8B030D-6E8A-4147-A177-3AD203B41FA5}">
                      <a16:colId xmlns:a16="http://schemas.microsoft.com/office/drawing/2014/main" val="2107473959"/>
                    </a:ext>
                  </a:extLst>
                </a:gridCol>
                <a:gridCol w="1379492">
                  <a:extLst>
                    <a:ext uri="{9D8B030D-6E8A-4147-A177-3AD203B41FA5}">
                      <a16:colId xmlns:a16="http://schemas.microsoft.com/office/drawing/2014/main" val="702028157"/>
                    </a:ext>
                  </a:extLst>
                </a:gridCol>
              </a:tblGrid>
              <a:tr h="4478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Scheme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Category</a:t>
                      </a:r>
                      <a:endParaRPr lang="en-IN" sz="2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Ranking</a:t>
                      </a:r>
                      <a:endParaRPr lang="en-IN" sz="22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316468"/>
                  </a:ext>
                </a:extLst>
              </a:tr>
              <a:tr h="42505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1Y</a:t>
                      </a:r>
                      <a:endParaRPr lang="en-IN" sz="2200" dirty="0"/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3Y</a:t>
                      </a:r>
                      <a:endParaRPr lang="en-IN" sz="2200" dirty="0"/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5Y</a:t>
                      </a:r>
                      <a:endParaRPr lang="en-IN" sz="2200" dirty="0"/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  <a:solidFill>
                      <a:srgbClr val="4D14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465083"/>
                  </a:ext>
                </a:extLst>
              </a:tr>
              <a:tr h="6397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LIC MF Midcap Fund - Regular (G)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Mid Cap Fund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23/30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18/29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21/25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019590693"/>
                  </a:ext>
                </a:extLst>
              </a:tr>
              <a:tr h="6397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LIC MF Small Cap Fund - Regular (G)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Small Cap Fund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9/30</a:t>
                      </a:r>
                      <a:endParaRPr lang="en-IN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11/24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9/22</a:t>
                      </a:r>
                      <a:endParaRPr lang="en-IN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185032192"/>
                  </a:ext>
                </a:extLst>
              </a:tr>
              <a:tr h="6397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Nippon India Small Cap Fund (G)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Small Cap Fund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17/30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10/24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2/22</a:t>
                      </a:r>
                      <a:endParaRPr lang="en-IN" sz="18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312997510"/>
                  </a:ext>
                </a:extLst>
              </a:tr>
              <a:tr h="6397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SBI Small Cap Fund - Direct (G)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Small Cap Fund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24/30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23/24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22/22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511051686"/>
                  </a:ext>
                </a:extLst>
              </a:tr>
              <a:tr h="6397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Quant Small Cap Fund - Direct (G)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Small Cap Fund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8/30</a:t>
                      </a:r>
                      <a:endParaRPr lang="en-IN" sz="18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6/24</a:t>
                      </a:r>
                      <a:endParaRPr lang="en-IN" sz="18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875" marR="142875" marT="142875" marB="142875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3/22</a:t>
                      </a:r>
                      <a:endParaRPr lang="en-IN" sz="18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875" marR="142875" marT="142875" marB="142875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801173644"/>
                  </a:ext>
                </a:extLst>
              </a:tr>
              <a:tr h="6397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UTI-Value Fund (G)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 Fund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18/22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15/20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875" marR="142875" marT="142875" marB="142875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13/16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875" marR="142875" marT="142875" marB="142875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911412142"/>
                  </a:ext>
                </a:extLst>
              </a:tr>
              <a:tr h="63975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Bandhan Value Fund (G)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 Fund</a:t>
                      </a:r>
                    </a:p>
                  </a:txBody>
                  <a:tcPr marL="7620" marR="7620" marT="762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13/22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17/20</a:t>
                      </a:r>
                      <a:endParaRPr lang="en-IN" sz="1800" b="1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875" marR="142875" marT="142875" marB="142875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en-GB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9/16</a:t>
                      </a:r>
                      <a:endParaRPr lang="en-IN" sz="1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2875" marR="142875" marT="142875" marB="142875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684635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0510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313</Words>
  <Application>Microsoft Office PowerPoint</Application>
  <PresentationFormat>Widescreen</PresentationFormat>
  <Paragraphs>128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Calibri</vt:lpstr>
      <vt:lpstr>1_Office Theme</vt:lpstr>
      <vt:lpstr>2_Office Theme</vt:lpstr>
      <vt:lpstr>Current portfolio</vt:lpstr>
      <vt:lpstr>Current portfolio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Current portfolio</dc:title>
  <dc:creator>Krishna</dc:creator>
  <cp:lastModifiedBy>SANSKRITI SRIVASTAVA 25AA35-2167</cp:lastModifiedBy>
  <cp:revision>3</cp:revision>
  <dcterms:created xsi:type="dcterms:W3CDTF">2026-05-26T07:02:04Z</dcterms:created>
  <dcterms:modified xsi:type="dcterms:W3CDTF">2026-06-15T17:09:53Z</dcterms:modified>
</cp:coreProperties>
</file>