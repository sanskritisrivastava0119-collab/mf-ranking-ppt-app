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6" r:id="rId2"/>
  </p:sldMasterIdLst>
  <p:sldIdLst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5" d="100"/>
          <a:sy n="85" d="100"/>
        </p:scale>
        <p:origin x="54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6C183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6/15/2026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635">
              <a:lnSpc>
                <a:spcPts val="1435"/>
              </a:lnSpc>
            </a:pPr>
            <a:fld id="{81D60167-4931-47E6-BA6A-407CBD079E47}" type="slidenum">
              <a:rPr spc="-50" dirty="0"/>
              <a:pPr marL="127635">
                <a:lnSpc>
                  <a:spcPts val="1435"/>
                </a:lnSpc>
              </a:pPr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2794523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6C183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6/15/2026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635">
              <a:lnSpc>
                <a:spcPts val="1435"/>
              </a:lnSpc>
            </a:pPr>
            <a:fld id="{81D60167-4931-47E6-BA6A-407CBD079E47}" type="slidenum">
              <a:rPr spc="-50" dirty="0"/>
              <a:pPr marL="127635">
                <a:lnSpc>
                  <a:spcPts val="1435"/>
                </a:lnSpc>
              </a:pPr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1513618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77210" y="334376"/>
            <a:ext cx="2036493" cy="545685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333374"/>
            <a:ext cx="9371330" cy="548005"/>
          </a:xfrm>
          <a:custGeom>
            <a:avLst/>
            <a:gdLst/>
            <a:ahLst/>
            <a:cxnLst/>
            <a:rect l="l" t="t" r="r" b="b"/>
            <a:pathLst>
              <a:path w="9371330" h="548005">
                <a:moveTo>
                  <a:pt x="9371076" y="273812"/>
                </a:moveTo>
                <a:lnTo>
                  <a:pt x="9366593" y="224586"/>
                </a:lnTo>
                <a:lnTo>
                  <a:pt x="9353677" y="178257"/>
                </a:lnTo>
                <a:lnTo>
                  <a:pt x="9333116" y="135610"/>
                </a:lnTo>
                <a:lnTo>
                  <a:pt x="9305696" y="97396"/>
                </a:lnTo>
                <a:lnTo>
                  <a:pt x="9272206" y="64389"/>
                </a:lnTo>
                <a:lnTo>
                  <a:pt x="9233421" y="37376"/>
                </a:lnTo>
                <a:lnTo>
                  <a:pt x="9190139" y="17132"/>
                </a:lnTo>
                <a:lnTo>
                  <a:pt x="9143124" y="4419"/>
                </a:lnTo>
                <a:lnTo>
                  <a:pt x="9093200" y="0"/>
                </a:lnTo>
                <a:lnTo>
                  <a:pt x="8815451" y="0"/>
                </a:lnTo>
                <a:lnTo>
                  <a:pt x="0" y="63"/>
                </a:lnTo>
                <a:lnTo>
                  <a:pt x="0" y="547751"/>
                </a:lnTo>
                <a:lnTo>
                  <a:pt x="8815451" y="547751"/>
                </a:lnTo>
                <a:lnTo>
                  <a:pt x="8913876" y="547751"/>
                </a:lnTo>
                <a:lnTo>
                  <a:pt x="9093200" y="547751"/>
                </a:lnTo>
                <a:lnTo>
                  <a:pt x="9143124" y="543344"/>
                </a:lnTo>
                <a:lnTo>
                  <a:pt x="9190139" y="530618"/>
                </a:lnTo>
                <a:lnTo>
                  <a:pt x="9233421" y="510349"/>
                </a:lnTo>
                <a:lnTo>
                  <a:pt x="9272206" y="483323"/>
                </a:lnTo>
                <a:lnTo>
                  <a:pt x="9305696" y="450303"/>
                </a:lnTo>
                <a:lnTo>
                  <a:pt x="9333116" y="412064"/>
                </a:lnTo>
                <a:lnTo>
                  <a:pt x="9353677" y="369392"/>
                </a:lnTo>
                <a:lnTo>
                  <a:pt x="9366593" y="323049"/>
                </a:lnTo>
                <a:lnTo>
                  <a:pt x="9371076" y="273812"/>
                </a:lnTo>
                <a:close/>
              </a:path>
            </a:pathLst>
          </a:custGeom>
          <a:solidFill>
            <a:srgbClr val="D2AB67"/>
          </a:solidFill>
        </p:spPr>
        <p:txBody>
          <a:bodyPr wrap="square" lIns="0" tIns="0" rIns="0" bIns="0" rtlCol="0"/>
          <a:lstStyle/>
          <a:p>
            <a:endParaRPr kern="0" dirty="0">
              <a:solidFill>
                <a:sysClr val="windowText" lastClr="000000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6C183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6/15/2026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635">
              <a:lnSpc>
                <a:spcPts val="1435"/>
              </a:lnSpc>
            </a:pPr>
            <a:fld id="{81D60167-4931-47E6-BA6A-407CBD079E47}" type="slidenum">
              <a:rPr spc="-50" dirty="0"/>
              <a:pPr marL="127635">
                <a:lnSpc>
                  <a:spcPts val="1435"/>
                </a:lnSpc>
              </a:pPr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2637747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6C183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6/15/2026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635">
              <a:lnSpc>
                <a:spcPts val="1435"/>
              </a:lnSpc>
            </a:pPr>
            <a:fld id="{81D60167-4931-47E6-BA6A-407CBD079E47}" type="slidenum">
              <a:rPr spc="-50" dirty="0"/>
              <a:pPr marL="127635">
                <a:lnSpc>
                  <a:spcPts val="1435"/>
                </a:lnSpc>
              </a:pPr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1051351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6/15/2026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635">
              <a:lnSpc>
                <a:spcPts val="1435"/>
              </a:lnSpc>
            </a:pPr>
            <a:fld id="{81D60167-4931-47E6-BA6A-407CBD079E47}" type="slidenum">
              <a:rPr spc="-50" dirty="0"/>
              <a:pPr marL="127635">
                <a:lnSpc>
                  <a:spcPts val="1435"/>
                </a:lnSpc>
              </a:pPr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3972051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6C183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6/15/2026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635">
              <a:lnSpc>
                <a:spcPts val="1435"/>
              </a:lnSpc>
            </a:pPr>
            <a:fld id="{81D60167-4931-47E6-BA6A-407CBD079E47}" type="slidenum">
              <a:rPr spc="-50" dirty="0"/>
              <a:pPr marL="127635">
                <a:lnSpc>
                  <a:spcPts val="1435"/>
                </a:lnSpc>
              </a:pPr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1191000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6C183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6/15/2026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635">
              <a:lnSpc>
                <a:spcPts val="1435"/>
              </a:lnSpc>
            </a:pPr>
            <a:fld id="{81D60167-4931-47E6-BA6A-407CBD079E47}" type="slidenum">
              <a:rPr spc="-50" dirty="0"/>
              <a:pPr marL="127635">
                <a:lnSpc>
                  <a:spcPts val="1435"/>
                </a:lnSpc>
              </a:pPr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223250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77210" y="334376"/>
            <a:ext cx="2036493" cy="545685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333374"/>
            <a:ext cx="9371330" cy="548005"/>
          </a:xfrm>
          <a:custGeom>
            <a:avLst/>
            <a:gdLst/>
            <a:ahLst/>
            <a:cxnLst/>
            <a:rect l="l" t="t" r="r" b="b"/>
            <a:pathLst>
              <a:path w="9371330" h="548005">
                <a:moveTo>
                  <a:pt x="9371076" y="273812"/>
                </a:moveTo>
                <a:lnTo>
                  <a:pt x="9366593" y="224586"/>
                </a:lnTo>
                <a:lnTo>
                  <a:pt x="9353677" y="178257"/>
                </a:lnTo>
                <a:lnTo>
                  <a:pt x="9333116" y="135610"/>
                </a:lnTo>
                <a:lnTo>
                  <a:pt x="9305696" y="97396"/>
                </a:lnTo>
                <a:lnTo>
                  <a:pt x="9272206" y="64389"/>
                </a:lnTo>
                <a:lnTo>
                  <a:pt x="9233421" y="37376"/>
                </a:lnTo>
                <a:lnTo>
                  <a:pt x="9190139" y="17132"/>
                </a:lnTo>
                <a:lnTo>
                  <a:pt x="9143124" y="4419"/>
                </a:lnTo>
                <a:lnTo>
                  <a:pt x="9093200" y="0"/>
                </a:lnTo>
                <a:lnTo>
                  <a:pt x="8815451" y="0"/>
                </a:lnTo>
                <a:lnTo>
                  <a:pt x="0" y="63"/>
                </a:lnTo>
                <a:lnTo>
                  <a:pt x="0" y="547751"/>
                </a:lnTo>
                <a:lnTo>
                  <a:pt x="8815451" y="547751"/>
                </a:lnTo>
                <a:lnTo>
                  <a:pt x="8913876" y="547751"/>
                </a:lnTo>
                <a:lnTo>
                  <a:pt x="9093200" y="547751"/>
                </a:lnTo>
                <a:lnTo>
                  <a:pt x="9143124" y="543344"/>
                </a:lnTo>
                <a:lnTo>
                  <a:pt x="9190139" y="530618"/>
                </a:lnTo>
                <a:lnTo>
                  <a:pt x="9233421" y="510349"/>
                </a:lnTo>
                <a:lnTo>
                  <a:pt x="9272206" y="483323"/>
                </a:lnTo>
                <a:lnTo>
                  <a:pt x="9305696" y="450303"/>
                </a:lnTo>
                <a:lnTo>
                  <a:pt x="9333116" y="412064"/>
                </a:lnTo>
                <a:lnTo>
                  <a:pt x="9353677" y="369392"/>
                </a:lnTo>
                <a:lnTo>
                  <a:pt x="9366593" y="323049"/>
                </a:lnTo>
                <a:lnTo>
                  <a:pt x="9371076" y="273812"/>
                </a:lnTo>
                <a:close/>
              </a:path>
            </a:pathLst>
          </a:custGeom>
          <a:solidFill>
            <a:srgbClr val="D2AB67"/>
          </a:solidFill>
        </p:spPr>
        <p:txBody>
          <a:bodyPr wrap="square" lIns="0" tIns="0" rIns="0" bIns="0" rtlCol="0"/>
          <a:lstStyle/>
          <a:p>
            <a:endParaRPr kern="0" dirty="0">
              <a:solidFill>
                <a:sysClr val="windowText" lastClr="000000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6C183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6/15/2026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635">
              <a:lnSpc>
                <a:spcPts val="1435"/>
              </a:lnSpc>
            </a:pPr>
            <a:fld id="{81D60167-4931-47E6-BA6A-407CBD079E47}" type="slidenum">
              <a:rPr spc="-50" dirty="0"/>
              <a:pPr marL="127635">
                <a:lnSpc>
                  <a:spcPts val="1435"/>
                </a:lnSpc>
              </a:pPr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267038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6C183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6/15/2026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635">
              <a:lnSpc>
                <a:spcPts val="1435"/>
              </a:lnSpc>
            </a:pPr>
            <a:fld id="{81D60167-4931-47E6-BA6A-407CBD079E47}" type="slidenum">
              <a:rPr spc="-50" dirty="0"/>
              <a:pPr marL="127635">
                <a:lnSpc>
                  <a:spcPts val="1435"/>
                </a:lnSpc>
              </a:pPr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3523890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6/15/2026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635">
              <a:lnSpc>
                <a:spcPts val="1435"/>
              </a:lnSpc>
            </a:pPr>
            <a:fld id="{81D60167-4931-47E6-BA6A-407CBD079E47}" type="slidenum">
              <a:rPr spc="-50" dirty="0"/>
              <a:pPr marL="127635">
                <a:lnSpc>
                  <a:spcPts val="1435"/>
                </a:lnSpc>
              </a:pPr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33841391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theme" Target="../theme/theme2.xml"/><Relationship Id="rId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877209" y="334376"/>
            <a:ext cx="2036493" cy="54568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139" y="402081"/>
            <a:ext cx="11437721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6C183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61010" y="1104900"/>
            <a:ext cx="5448300" cy="3369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ern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kern="0">
                <a:solidFill>
                  <a:prstClr val="black">
                    <a:tint val="75000"/>
                  </a:prstClr>
                </a:solidFill>
              </a:rPr>
              <a:pPr/>
              <a:t>6/15/2026</a:t>
            </a:fld>
            <a:endParaRPr lang="en-US" kern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676253" y="6584162"/>
            <a:ext cx="269620" cy="2038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635">
              <a:lnSpc>
                <a:spcPts val="1435"/>
              </a:lnSpc>
            </a:pPr>
            <a:fld id="{81D60167-4931-47E6-BA6A-407CBD079E47}" type="slidenum">
              <a:rPr kern="0" spc="-50" dirty="0"/>
              <a:pPr marL="127635">
                <a:lnSpc>
                  <a:spcPts val="1435"/>
                </a:lnSpc>
              </a:pPr>
              <a:t>‹#›</a:t>
            </a:fld>
            <a:endParaRPr kern="0" spc="-50" dirty="0"/>
          </a:p>
        </p:txBody>
      </p:sp>
    </p:spTree>
    <p:extLst>
      <p:ext uri="{BB962C8B-B14F-4D97-AF65-F5344CB8AC3E}">
        <p14:creationId xmlns:p14="http://schemas.microsoft.com/office/powerpoint/2010/main" val="604162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877209" y="334376"/>
            <a:ext cx="2036493" cy="54568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139" y="402081"/>
            <a:ext cx="11437721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6C183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61010" y="1104900"/>
            <a:ext cx="5448300" cy="3369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ern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kern="0">
                <a:solidFill>
                  <a:prstClr val="black">
                    <a:tint val="75000"/>
                  </a:prstClr>
                </a:solidFill>
              </a:rPr>
              <a:pPr/>
              <a:t>6/15/2026</a:t>
            </a:fld>
            <a:endParaRPr lang="en-US" kern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676253" y="6584162"/>
            <a:ext cx="269620" cy="2038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635">
              <a:lnSpc>
                <a:spcPts val="1435"/>
              </a:lnSpc>
            </a:pPr>
            <a:fld id="{81D60167-4931-47E6-BA6A-407CBD079E47}" type="slidenum">
              <a:rPr kern="0" spc="-50" dirty="0"/>
              <a:pPr marL="127635">
                <a:lnSpc>
                  <a:spcPts val="1435"/>
                </a:lnSpc>
              </a:pPr>
              <a:t>‹#›</a:t>
            </a:fld>
            <a:endParaRPr kern="0" spc="-50" dirty="0"/>
          </a:p>
        </p:txBody>
      </p:sp>
    </p:spTree>
    <p:extLst>
      <p:ext uri="{BB962C8B-B14F-4D97-AF65-F5344CB8AC3E}">
        <p14:creationId xmlns:p14="http://schemas.microsoft.com/office/powerpoint/2010/main" val="202546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3B0E6-80FA-F2A4-F5BE-F32F07317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777DD-395D-0C9C-0D09-E1079E388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04" y="838200"/>
            <a:ext cx="11029616" cy="605307"/>
          </a:xfrm>
        </p:spPr>
        <p:txBody>
          <a:bodyPr>
            <a:noAutofit/>
          </a:bodyPr>
          <a:lstStyle/>
          <a:p>
            <a:r>
              <a:rPr lang="en-IN" b="1" dirty="0">
                <a:solidFill>
                  <a:srgbClr val="FFFE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 portfolio</a:t>
            </a: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3441DAE5-B855-AF4A-0216-5CE0A85628DC}"/>
              </a:ext>
            </a:extLst>
          </p:cNvPr>
          <p:cNvSpPr/>
          <p:nvPr/>
        </p:nvSpPr>
        <p:spPr>
          <a:xfrm>
            <a:off x="191134" y="333132"/>
            <a:ext cx="9371330" cy="548005"/>
          </a:xfrm>
          <a:custGeom>
            <a:avLst/>
            <a:gdLst/>
            <a:ahLst/>
            <a:cxnLst/>
            <a:rect l="l" t="t" r="r" b="b"/>
            <a:pathLst>
              <a:path w="9371330" h="548005">
                <a:moveTo>
                  <a:pt x="9371076" y="273812"/>
                </a:moveTo>
                <a:lnTo>
                  <a:pt x="9366593" y="224586"/>
                </a:lnTo>
                <a:lnTo>
                  <a:pt x="9353677" y="178257"/>
                </a:lnTo>
                <a:lnTo>
                  <a:pt x="9333116" y="135610"/>
                </a:lnTo>
                <a:lnTo>
                  <a:pt x="9305696" y="97396"/>
                </a:lnTo>
                <a:lnTo>
                  <a:pt x="9272206" y="64389"/>
                </a:lnTo>
                <a:lnTo>
                  <a:pt x="9233421" y="37376"/>
                </a:lnTo>
                <a:lnTo>
                  <a:pt x="9190139" y="17132"/>
                </a:lnTo>
                <a:lnTo>
                  <a:pt x="9143124" y="4419"/>
                </a:lnTo>
                <a:lnTo>
                  <a:pt x="9093200" y="0"/>
                </a:lnTo>
                <a:lnTo>
                  <a:pt x="8815451" y="0"/>
                </a:lnTo>
                <a:lnTo>
                  <a:pt x="0" y="63"/>
                </a:lnTo>
                <a:lnTo>
                  <a:pt x="0" y="547751"/>
                </a:lnTo>
                <a:lnTo>
                  <a:pt x="8815451" y="547751"/>
                </a:lnTo>
                <a:lnTo>
                  <a:pt x="8913876" y="547751"/>
                </a:lnTo>
                <a:lnTo>
                  <a:pt x="9093200" y="547751"/>
                </a:lnTo>
                <a:lnTo>
                  <a:pt x="9143124" y="543344"/>
                </a:lnTo>
                <a:lnTo>
                  <a:pt x="9190139" y="530618"/>
                </a:lnTo>
                <a:lnTo>
                  <a:pt x="9233421" y="510349"/>
                </a:lnTo>
                <a:lnTo>
                  <a:pt x="9272206" y="483323"/>
                </a:lnTo>
                <a:lnTo>
                  <a:pt x="9305696" y="450303"/>
                </a:lnTo>
                <a:lnTo>
                  <a:pt x="9333116" y="412064"/>
                </a:lnTo>
                <a:lnTo>
                  <a:pt x="9353677" y="369392"/>
                </a:lnTo>
                <a:lnTo>
                  <a:pt x="9366593" y="323049"/>
                </a:lnTo>
                <a:lnTo>
                  <a:pt x="9371076" y="273812"/>
                </a:lnTo>
                <a:close/>
              </a:path>
            </a:pathLst>
          </a:custGeom>
          <a:solidFill>
            <a:srgbClr val="42102C"/>
          </a:solidFill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/>
          <a:lstStyle/>
          <a:p>
            <a:endParaRPr kern="0" dirty="0">
              <a:solidFill>
                <a:sysClr val="windowText" lastClr="000000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EB256EF-B841-73A9-5F42-4F590D493514}"/>
              </a:ext>
            </a:extLst>
          </p:cNvPr>
          <p:cNvSpPr txBox="1">
            <a:spLocks/>
          </p:cNvSpPr>
          <p:nvPr/>
        </p:nvSpPr>
        <p:spPr>
          <a:xfrm>
            <a:off x="427947" y="414572"/>
            <a:ext cx="11029616" cy="60530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defRPr sz="2200" b="1" i="0">
                <a:solidFill>
                  <a:srgbClr val="6C1830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n-US" sz="2800" kern="0" dirty="0">
                <a:solidFill>
                  <a:srgbClr val="FFFEF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RANKING</a:t>
            </a:r>
            <a:endParaRPr lang="en-IN" sz="2800" kern="0" dirty="0">
              <a:solidFill>
                <a:srgbClr val="FFFEFF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5B087DD-B6C9-EE5B-AE8A-4C2680EAA8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7733942"/>
              </p:ext>
            </p:extLst>
          </p:nvPr>
        </p:nvGraphicFramePr>
        <p:xfrm>
          <a:off x="191134" y="1450435"/>
          <a:ext cx="11543665" cy="47776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175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7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94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94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94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811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2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Scheme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  <a:solidFill>
                      <a:srgbClr val="4D143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2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Category</a:t>
                      </a:r>
                      <a:endParaRPr lang="en-IN" sz="2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  <a:solidFill>
                      <a:srgbClr val="4D1434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IN" sz="2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Ranking</a:t>
                      </a:r>
                      <a:endParaRPr lang="en-IN" sz="2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  <a:solidFill>
                      <a:srgbClr val="4D143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87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1Y</a:t>
                      </a:r>
                      <a:endParaRPr lang="en-IN" sz="2200" dirty="0"/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  <a:solidFill>
                      <a:srgbClr val="4D14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3Y</a:t>
                      </a:r>
                      <a:endParaRPr lang="en-IN" sz="2200" dirty="0"/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  <a:solidFill>
                      <a:srgbClr val="4D14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5Y</a:t>
                      </a:r>
                      <a:endParaRPr lang="en-IN" sz="2200" dirty="0"/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  <a:solidFill>
                      <a:srgbClr val="4D14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6501836"/>
                  </a:ext>
                </a:extLst>
              </a:tr>
              <a:tr h="5687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Parag Parikh Flexi Cap Reg Gr</a:t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Flexi Cap</a:t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34/40</a:t>
                      </a:r>
                      <a:endParaRPr lang="en-IN" sz="1800" b="1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13/34</a:t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5/24</a:t>
                      </a:r>
                      <a:endParaRPr lang="en-IN" sz="18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440701433"/>
                  </a:ext>
                </a:extLst>
              </a:tr>
              <a:tr h="5687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Nippon India Small Cap Gr Gr</a:t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Small Cap</a:t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17/30</a:t>
                      </a:r>
                      <a:endParaRPr lang="en-IN" sz="1800" b="1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10/24</a:t>
                      </a:r>
                      <a:endParaRPr lang="en-IN" sz="1800" b="1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1/22</a:t>
                      </a:r>
                      <a:endParaRPr lang="en-IN" sz="18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18729907"/>
                  </a:ext>
                </a:extLst>
              </a:tr>
              <a:tr h="5687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HDFC Flexi Cap Gr</a:t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Flexi Cap</a:t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14/40</a:t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6/34</a:t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1/24</a:t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87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/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/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813011360"/>
                  </a:ext>
                </a:extLst>
              </a:tr>
              <a:tr h="5687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/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/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en-IN" sz="1800" b="1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en-IN" sz="1800" b="1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467189967"/>
                  </a:ext>
                </a:extLst>
              </a:tr>
              <a:tr h="5789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/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/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2875" marR="142875" marT="142875" marB="142875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2875" marR="142875" marT="142875" marB="142875"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844003310"/>
                  </a:ext>
                </a:extLst>
              </a:tr>
              <a:tr h="5789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/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/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en-IN" sz="18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2875" marR="142875" marT="142875" marB="142875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en-IN" sz="18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2875" marR="142875" marT="142875" marB="142875"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2736107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368197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313</Words>
  <Application>Microsoft Office PowerPoint</Application>
  <PresentationFormat>Widescreen</PresentationFormat>
  <Paragraphs>128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Calibri</vt:lpstr>
      <vt:lpstr>1_Office Theme</vt:lpstr>
      <vt:lpstr>2_Office Theme</vt:lpstr>
      <vt:lpstr>Current portfolio</vt:lpstr>
      <vt:lpstr>Current portfolio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Current portfolio</dc:title>
  <dc:creator>Krishna</dc:creator>
  <cp:lastModifiedBy>SANSKRITI SRIVASTAVA 25AA35-2167</cp:lastModifiedBy>
  <cp:revision>3</cp:revision>
  <dcterms:created xsi:type="dcterms:W3CDTF">2026-05-26T07:02:04Z</dcterms:created>
  <dcterms:modified xsi:type="dcterms:W3CDTF">2026-06-15T17:09:53Z</dcterms:modified>
</cp:coreProperties>
</file>